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10691800" cx="7559675"/>
  <p:notesSz cx="6858000" cy="9144000"/>
  <p:embeddedFontLst>
    <p:embeddedFont>
      <p:font typeface="Asap Condensed"/>
      <p:regular r:id="rId17"/>
      <p:bold r:id="rId18"/>
      <p:italic r:id="rId19"/>
      <p:boldItalic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Asap Condensed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hE15ycM+/9VVE1/IQSmsaybdSX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4B5AFA-F313-401C-9336-CD715CC1EEA1}">
  <a:tblStyle styleId="{264B5AFA-F313-401C-9336-CD715CC1EEA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23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sapCondensed-boldItalic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sapCondensedExtraBold-boldItalic.fntdata"/><Relationship Id="rId25" Type="http://schemas.openxmlformats.org/officeDocument/2006/relationships/font" Target="fonts/AsapCondensedExtraBold-bold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sapCondensed-regular.fntdata"/><Relationship Id="rId16" Type="http://schemas.openxmlformats.org/officeDocument/2006/relationships/slide" Target="slides/slide10.xml"/><Relationship Id="rId19" Type="http://schemas.openxmlformats.org/officeDocument/2006/relationships/font" Target="fonts/AsapCondensed-italic.fntdata"/><Relationship Id="rId18" Type="http://schemas.openxmlformats.org/officeDocument/2006/relationships/font" Target="fonts/AsapCondense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2217738" y="685800"/>
            <a:ext cx="242411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2"/>
          <p:cNvSpPr txBox="1"/>
          <p:nvPr>
            <p:ph idx="1" type="subTitle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/>
          <p:nvPr>
            <p:ph type="title"/>
          </p:nvPr>
        </p:nvSpPr>
        <p:spPr>
          <a:xfrm>
            <a:off x="257705" y="925091"/>
            <a:ext cx="70446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257705" y="4471058"/>
            <a:ext cx="7044600" cy="17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4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/>
          <p:nvPr>
            <p:ph type="title"/>
          </p:nvPr>
        </p:nvSpPr>
        <p:spPr>
          <a:xfrm>
            <a:off x="257705" y="925091"/>
            <a:ext cx="70446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" type="body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5"/>
          <p:cNvSpPr txBox="1"/>
          <p:nvPr>
            <p:ph idx="2" type="body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257705" y="925091"/>
            <a:ext cx="70446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/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9"/>
          <p:cNvSpPr txBox="1"/>
          <p:nvPr>
            <p:ph idx="1" type="subTitle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4083839" y="1505164"/>
            <a:ext cx="3172200" cy="76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hasCustomPrompt="1" type="title"/>
          </p:nvPr>
        </p:nvSpPr>
        <p:spPr>
          <a:xfrm>
            <a:off x="257705" y="2299346"/>
            <a:ext cx="7044600" cy="40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257705" y="925091"/>
            <a:ext cx="70446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16.png"/><Relationship Id="rId22" Type="http://schemas.openxmlformats.org/officeDocument/2006/relationships/image" Target="../media/image22.png"/><Relationship Id="rId21" Type="http://schemas.openxmlformats.org/officeDocument/2006/relationships/image" Target="../media/image20.png"/><Relationship Id="rId24" Type="http://schemas.openxmlformats.org/officeDocument/2006/relationships/image" Target="../media/image24.png"/><Relationship Id="rId23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Relationship Id="rId4" Type="http://schemas.openxmlformats.org/officeDocument/2006/relationships/image" Target="../media/image12.png"/><Relationship Id="rId9" Type="http://schemas.openxmlformats.org/officeDocument/2006/relationships/image" Target="../media/image3.png"/><Relationship Id="rId26" Type="http://schemas.openxmlformats.org/officeDocument/2006/relationships/image" Target="../media/image27.png"/><Relationship Id="rId25" Type="http://schemas.openxmlformats.org/officeDocument/2006/relationships/image" Target="../media/image15.png"/><Relationship Id="rId27" Type="http://schemas.openxmlformats.org/officeDocument/2006/relationships/image" Target="../media/image30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6.png"/><Relationship Id="rId8" Type="http://schemas.openxmlformats.org/officeDocument/2006/relationships/image" Target="../media/image5.png"/><Relationship Id="rId11" Type="http://schemas.openxmlformats.org/officeDocument/2006/relationships/image" Target="../media/image2.png"/><Relationship Id="rId10" Type="http://schemas.openxmlformats.org/officeDocument/2006/relationships/image" Target="../media/image4.png"/><Relationship Id="rId13" Type="http://schemas.openxmlformats.org/officeDocument/2006/relationships/image" Target="../media/image21.png"/><Relationship Id="rId12" Type="http://schemas.openxmlformats.org/officeDocument/2006/relationships/image" Target="../media/image7.png"/><Relationship Id="rId15" Type="http://schemas.openxmlformats.org/officeDocument/2006/relationships/image" Target="../media/image9.png"/><Relationship Id="rId14" Type="http://schemas.openxmlformats.org/officeDocument/2006/relationships/image" Target="../media/image1.png"/><Relationship Id="rId17" Type="http://schemas.openxmlformats.org/officeDocument/2006/relationships/image" Target="../media/image10.png"/><Relationship Id="rId16" Type="http://schemas.openxmlformats.org/officeDocument/2006/relationships/image" Target="../media/image13.png"/><Relationship Id="rId19" Type="http://schemas.openxmlformats.org/officeDocument/2006/relationships/image" Target="../media/image11.png"/><Relationship Id="rId1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923200" y="4921075"/>
            <a:ext cx="36168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Nome do Cliente</a:t>
            </a:r>
            <a:endParaRPr b="0" i="0" sz="21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Data DD/MM/AAAA</a:t>
            </a:r>
            <a:endParaRPr b="0" i="0" sz="21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1390300" y="6556375"/>
            <a:ext cx="27858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Datacenter</a:t>
            </a:r>
            <a:endParaRPr b="1" i="0" sz="21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Firewall</a:t>
            </a:r>
            <a:endParaRPr b="1" i="0" sz="21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/>
        </p:nvSpPr>
        <p:spPr>
          <a:xfrm>
            <a:off x="683100" y="1716625"/>
            <a:ext cx="6143100" cy="26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6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 três décadas de história no mercado, a Double TI + Telecom se destaca pela experiência consolidada de sua equipe e pela confiança conquistada junto aos clientes. Nossa jornada é guiada pela tradição que nos conecta às nossas raízes e pela inovação, que nos impulsionam a evoluir continuamente, sempre mirando um futuro promissor e cheio de oportunidades. Somos uma parceira estratégica, capaz de entregar soluções completas que colaboram com o sucesso de nossos clientes.</a:t>
            </a:r>
            <a:endParaRPr b="0" i="0" sz="1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3932400" y="5236650"/>
            <a:ext cx="2454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+30</a:t>
            </a:r>
            <a:endParaRPr b="1" i="0" sz="3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Anos</a:t>
            </a:r>
            <a:endParaRPr b="1" i="0" sz="3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3932400" y="6567175"/>
            <a:ext cx="2454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+500</a:t>
            </a:r>
            <a:endParaRPr b="1" i="0" sz="3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  <a:endParaRPr b="1" i="0" sz="3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3932400" y="7845275"/>
            <a:ext cx="2454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+5000</a:t>
            </a:r>
            <a:endParaRPr b="1" i="0" sz="3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Projetos</a:t>
            </a:r>
            <a:endParaRPr b="1" i="0" sz="3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/>
        </p:nvSpPr>
        <p:spPr>
          <a:xfrm>
            <a:off x="900425" y="1563525"/>
            <a:ext cx="6143100" cy="26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Acreditamos que o sucesso do nosso negócio está diretamente ligado ao sucesso dos nossos clientes. Por isso, investimos continuamente em infraestrutura, robustez, segurança, inovação e atendimento personalizado, garantindo que cada cliente (independentemente do porte ou segmento) tenha sempre a melhor experiência possível com nossos serviços.</a:t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9" name="Google Shape;6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124" y="7333625"/>
            <a:ext cx="1263573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419" y="5311938"/>
            <a:ext cx="1576744" cy="4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86088" y="5311952"/>
            <a:ext cx="1119900" cy="42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13437" y="5195900"/>
            <a:ext cx="913275" cy="65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8">
            <a:alphaModFix/>
          </a:blip>
          <a:srcRect b="35069" l="36222" r="17481" t="47059"/>
          <a:stretch/>
        </p:blipFill>
        <p:spPr>
          <a:xfrm>
            <a:off x="5397563" y="5360236"/>
            <a:ext cx="1119900" cy="33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71463" y="6053963"/>
            <a:ext cx="1119900" cy="425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084663" y="6028474"/>
            <a:ext cx="13906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70413" y="6014199"/>
            <a:ext cx="13811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90625" y="6655612"/>
            <a:ext cx="1743075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49803"/>
              </a:schemeClr>
            </a:outerShdw>
          </a:effectLst>
        </p:spPr>
      </p:pic>
      <p:pic>
        <p:nvPicPr>
          <p:cNvPr id="78" name="Google Shape;78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832261" y="6601391"/>
            <a:ext cx="1743076" cy="478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"/>
          <p:cNvPicPr preferRelativeResize="0"/>
          <p:nvPr/>
        </p:nvPicPr>
        <p:blipFill rotWithShape="1">
          <a:blip r:embed="rId14">
            <a:alphaModFix/>
          </a:blip>
          <a:srcRect b="38819" l="27981" r="27715" t="41682"/>
          <a:stretch/>
        </p:blipFill>
        <p:spPr>
          <a:xfrm>
            <a:off x="5018575" y="6657975"/>
            <a:ext cx="1498900" cy="36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184600" y="7337324"/>
            <a:ext cx="1263575" cy="405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3"/>
          <p:cNvPicPr preferRelativeResize="0"/>
          <p:nvPr/>
        </p:nvPicPr>
        <p:blipFill rotWithShape="1">
          <a:blip r:embed="rId16">
            <a:alphaModFix/>
          </a:blip>
          <a:srcRect b="16748" l="0" r="0" t="17361"/>
          <a:stretch/>
        </p:blipFill>
        <p:spPr>
          <a:xfrm>
            <a:off x="3696600" y="7266943"/>
            <a:ext cx="1381125" cy="606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251050" y="7380825"/>
            <a:ext cx="1576750" cy="47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22025" y="7967725"/>
            <a:ext cx="153352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856063" y="8043925"/>
            <a:ext cx="1981200" cy="3333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  <p:pic>
        <p:nvPicPr>
          <p:cNvPr id="85" name="Google Shape;85;p3"/>
          <p:cNvPicPr preferRelativeResize="0"/>
          <p:nvPr/>
        </p:nvPicPr>
        <p:blipFill rotWithShape="1">
          <a:blip r:embed="rId20">
            <a:alphaModFix/>
          </a:blip>
          <a:srcRect b="0" l="0" r="40824" t="0"/>
          <a:stretch/>
        </p:blipFill>
        <p:spPr>
          <a:xfrm>
            <a:off x="5191700" y="7862032"/>
            <a:ext cx="1390650" cy="69716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49803"/>
              </a:schemeClr>
            </a:outerShdw>
          </a:effectLst>
        </p:spPr>
      </p:pic>
      <p:pic>
        <p:nvPicPr>
          <p:cNvPr id="86" name="Google Shape;86;p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109087" y="8601301"/>
            <a:ext cx="1397074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052814" y="8425779"/>
            <a:ext cx="1533524" cy="748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890725" y="8634466"/>
            <a:ext cx="1981200" cy="483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97036" y="9027162"/>
            <a:ext cx="989750" cy="791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3"/>
          <p:cNvPicPr preferRelativeResize="0"/>
          <p:nvPr/>
        </p:nvPicPr>
        <p:blipFill rotWithShape="1">
          <a:blip r:embed="rId25">
            <a:alphaModFix/>
          </a:blip>
          <a:srcRect b="0" l="0" r="36896" t="0"/>
          <a:stretch/>
        </p:blipFill>
        <p:spPr>
          <a:xfrm>
            <a:off x="2159663" y="9223038"/>
            <a:ext cx="10338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3561247" y="9238387"/>
            <a:ext cx="1381125" cy="36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251050" y="9310130"/>
            <a:ext cx="1576750" cy="400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 txBox="1"/>
          <p:nvPr/>
        </p:nvSpPr>
        <p:spPr>
          <a:xfrm>
            <a:off x="714850" y="2453250"/>
            <a:ext cx="6114000" cy="43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O FIREWALL VIRTUAL DOUBLE é a solução ideal para empresas que buscam proteger seus ambientes digitais com alta disponibilidade, flexibilidade e segurança, sem os custos e limitações de equipamentos físicos.</a:t>
            </a:r>
            <a:endParaRPr b="0" i="0" sz="14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Hospedado em nossos data centers com infraestrutura  segura, o serviço oferece proteção contra ameaças, controle de tráfego, VPN, balanceamento de carga e gestão de regras de segurança de forma centralizada e escalável.</a:t>
            </a:r>
            <a:endParaRPr b="0" i="0" sz="14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Com implantação rápida e configuração personalizada, o FIREWALL VIRTUAL DOUBLE garante segurança perimetral robusta, filtragem avançada e alta performance, protegendo suas conexões, servidores, redes e aplicações.</a:t>
            </a:r>
            <a:endParaRPr b="0" i="0" sz="14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Tudo isso com suporte especializado e gestão completa pela DOUBLE, eliminando a necessidade de investimentos em hardware, manutenção e múltiplos fornecedores. Uma solução eficiente, segura e alinhada às demandas de segurança das empresas modernas.</a:t>
            </a:r>
            <a:endParaRPr b="0" i="0" sz="14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8" name="Google Shape;98;p4"/>
          <p:cNvGrpSpPr/>
          <p:nvPr/>
        </p:nvGrpSpPr>
        <p:grpSpPr>
          <a:xfrm>
            <a:off x="645000" y="1847575"/>
            <a:ext cx="5955200" cy="780550"/>
            <a:chOff x="645000" y="2533375"/>
            <a:chExt cx="5955200" cy="780550"/>
          </a:xfrm>
        </p:grpSpPr>
        <p:pic>
          <p:nvPicPr>
            <p:cNvPr id="99" name="Google Shape;99;p4" title="Conectividade Proposta Comercial Double.png"/>
            <p:cNvPicPr preferRelativeResize="0"/>
            <p:nvPr/>
          </p:nvPicPr>
          <p:blipFill rotWithShape="1">
            <a:blip r:embed="rId4">
              <a:alphaModFix/>
            </a:blip>
            <a:srcRect b="0" l="0" r="92097" t="0"/>
            <a:stretch/>
          </p:blipFill>
          <p:spPr>
            <a:xfrm>
              <a:off x="645000" y="2533375"/>
              <a:ext cx="464526" cy="780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4"/>
            <p:cNvSpPr txBox="1"/>
            <p:nvPr/>
          </p:nvSpPr>
          <p:spPr>
            <a:xfrm>
              <a:off x="1168400" y="2616200"/>
              <a:ext cx="5431800" cy="5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pt-BR" sz="2800" u="none" cap="none" strike="noStrike">
                  <a:solidFill>
                    <a:srgbClr val="4C6584"/>
                  </a:solidFill>
                  <a:latin typeface="Asap Condensed ExtraBold"/>
                  <a:ea typeface="Asap Condensed ExtraBold"/>
                  <a:cs typeface="Asap Condensed ExtraBold"/>
                  <a:sym typeface="Asap Condensed ExtraBold"/>
                </a:rPr>
                <a:t>Descritivo do Produto</a:t>
              </a:r>
              <a:endParaRPr b="0" i="0" sz="2800" u="none" cap="none" strike="noStrike">
                <a:solidFill>
                  <a:srgbClr val="4C6584"/>
                </a:solidFill>
                <a:latin typeface="Asap Condensed ExtraBold"/>
                <a:ea typeface="Asap Condensed ExtraBold"/>
                <a:cs typeface="Asap Condensed ExtraBold"/>
                <a:sym typeface="Asap Condensed ExtraBold"/>
              </a:endParaRPr>
            </a:p>
          </p:txBody>
        </p:sp>
      </p:grpSp>
      <p:sp>
        <p:nvSpPr>
          <p:cNvPr id="101" name="Google Shape;101;p4"/>
          <p:cNvSpPr txBox="1"/>
          <p:nvPr/>
        </p:nvSpPr>
        <p:spPr>
          <a:xfrm>
            <a:off x="949800" y="804375"/>
            <a:ext cx="6043200" cy="12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pt-BR" sz="3100" u="none" cap="none" strike="noStrike">
                <a:solidFill>
                  <a:srgbClr val="4C6584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A solução que consideramos mais adequada para o seu momento atual</a:t>
            </a:r>
            <a:endParaRPr b="1" i="0" sz="3100" u="none" cap="none" strike="noStrike">
              <a:solidFill>
                <a:srgbClr val="4C6584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714850" y="6300650"/>
            <a:ext cx="6043200" cy="3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400" u="none" cap="none" strike="noStrike">
                <a:solidFill>
                  <a:srgbClr val="4C6584"/>
                </a:solidFill>
                <a:latin typeface="Asap Condensed ExtraBold"/>
                <a:ea typeface="Asap Condensed ExtraBold"/>
                <a:cs typeface="Asap Condensed ExtraBold"/>
                <a:sym typeface="Asap Condensed ExtraBold"/>
              </a:rPr>
              <a:t>CARACTERÍSTICAS:</a:t>
            </a:r>
            <a:endParaRPr b="0" i="0" sz="14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400"/>
              <a:buFont typeface="Poppins"/>
              <a:buChar char="●"/>
            </a:pPr>
            <a:r>
              <a:rPr b="0" i="0" lang="pt-BR" sz="14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Firewall de próxima geração (NGFW) com funcionalidades de segurança avançadas;</a:t>
            </a:r>
            <a:endParaRPr b="0" i="0" sz="14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400"/>
              <a:buFont typeface="Poppins"/>
              <a:buChar char="●"/>
            </a:pPr>
            <a:r>
              <a:rPr b="0" i="0" lang="pt-BR" sz="14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Recursos escaláveis sob demanda (CPU, memória, throughput e conexões simultâneas);</a:t>
            </a:r>
            <a:endParaRPr b="0" i="0" sz="14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400"/>
              <a:buFont typeface="Poppins"/>
              <a:buChar char="●"/>
            </a:pPr>
            <a:r>
              <a:rPr b="0" i="0" lang="pt-BR" sz="14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Políticas de firewall, regras de filtragem, NAT, controle de acesso e segmentação de rede;</a:t>
            </a:r>
            <a:endParaRPr b="0" i="0" sz="14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400"/>
              <a:buFont typeface="Poppins"/>
              <a:buChar char="●"/>
            </a:pPr>
            <a:r>
              <a:rPr b="0" i="0" lang="pt-BR" sz="14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Relatórios de tráfego, uso, tentativas de acesso e eventos de segurança;</a:t>
            </a:r>
            <a:endParaRPr b="0" i="0" sz="14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400"/>
              <a:buFont typeface="Poppins"/>
              <a:buChar char="●"/>
            </a:pPr>
            <a:r>
              <a:rPr b="0" i="0" lang="pt-BR" sz="14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Monitoramento ativo e suporte especializado 24x7;</a:t>
            </a:r>
            <a:endParaRPr b="0" i="0" sz="14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400"/>
              <a:buFont typeface="Poppins"/>
              <a:buChar char="●"/>
            </a:pPr>
            <a:r>
              <a:rPr b="0" i="0" lang="pt-BR" sz="14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Integração com redes locais, ambientes na nuvem, PABX, servidores e sistemas corporativos;</a:t>
            </a:r>
            <a:endParaRPr b="0" i="0" sz="14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400"/>
              <a:buFont typeface="Poppins"/>
              <a:buChar char="●"/>
            </a:pPr>
            <a:r>
              <a:rPr b="0" i="0" lang="pt-BR" sz="14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Proteção contra ameaças, ataques DDoS, invasões, malware e tráfego malicioso.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/>
        </p:nvSpPr>
        <p:spPr>
          <a:xfrm>
            <a:off x="714850" y="1996050"/>
            <a:ext cx="6114000" cy="3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O projeto prevê a implantação da solução FIREWALL VIRTUAL DOUBLE (FORTNET OU CHECKPOINT), que oferece segurança perimetral em nuvem para ambientes corporativos.</a:t>
            </a:r>
            <a:endParaRPr b="0" i="0" sz="13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O serviço contempla o provisionamento de um ambiente virtualizado, com recursos dedicados de processamento, memória, throughput e IP fixo, hospedado em Data Center de alta disponibilidade.</a:t>
            </a:r>
            <a:endParaRPr b="0" i="0" sz="13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A solução é entregue com configuração personalizada, incluindo regras de firewall, VPN, NAT, filtros de conteúdo, segmentação de redes e proteção contra ameaças, além de relatórios e monitoramento contínuo.</a:t>
            </a:r>
            <a:endParaRPr b="0" i="0" sz="13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O FIREWALL VIRTUAL DOUBLE proporciona proteção robusta para servidores, redes, aplicações e conexões da empresa, eliminando a necessidade de equipamentos físicos, licenças avulsas e manutenções locais.</a:t>
            </a:r>
            <a:endParaRPr b="0" i="0" sz="13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8" name="Google Shape;108;p5"/>
          <p:cNvGrpSpPr/>
          <p:nvPr/>
        </p:nvGrpSpPr>
        <p:grpSpPr>
          <a:xfrm>
            <a:off x="645000" y="1390375"/>
            <a:ext cx="5955200" cy="780550"/>
            <a:chOff x="645000" y="2076175"/>
            <a:chExt cx="5955200" cy="780550"/>
          </a:xfrm>
        </p:grpSpPr>
        <p:pic>
          <p:nvPicPr>
            <p:cNvPr id="109" name="Google Shape;109;p5" title="Conectividade Proposta Comercial Double.png"/>
            <p:cNvPicPr preferRelativeResize="0"/>
            <p:nvPr/>
          </p:nvPicPr>
          <p:blipFill rotWithShape="1">
            <a:blip r:embed="rId4">
              <a:alphaModFix/>
            </a:blip>
            <a:srcRect b="0" l="0" r="92097" t="0"/>
            <a:stretch/>
          </p:blipFill>
          <p:spPr>
            <a:xfrm>
              <a:off x="645000" y="2076175"/>
              <a:ext cx="464526" cy="780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5"/>
            <p:cNvSpPr txBox="1"/>
            <p:nvPr/>
          </p:nvSpPr>
          <p:spPr>
            <a:xfrm>
              <a:off x="1168400" y="2159000"/>
              <a:ext cx="5431800" cy="5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pt-BR" sz="2800" u="none" cap="none" strike="noStrike">
                  <a:solidFill>
                    <a:srgbClr val="4C6584"/>
                  </a:solidFill>
                  <a:latin typeface="Asap Condensed ExtraBold"/>
                  <a:ea typeface="Asap Condensed ExtraBold"/>
                  <a:cs typeface="Asap Condensed ExtraBold"/>
                  <a:sym typeface="Asap Condensed ExtraBold"/>
                </a:rPr>
                <a:t>Projeto</a:t>
              </a:r>
              <a:endParaRPr b="0" i="0" sz="2800" u="none" cap="none" strike="noStrike">
                <a:solidFill>
                  <a:srgbClr val="4C6584"/>
                </a:solidFill>
                <a:latin typeface="Asap Condensed ExtraBold"/>
                <a:ea typeface="Asap Condensed ExtraBold"/>
                <a:cs typeface="Asap Condensed ExtraBold"/>
                <a:sym typeface="Asap Condensed ExtraBold"/>
              </a:endParaRPr>
            </a:p>
          </p:txBody>
        </p:sp>
      </p:grpSp>
      <p:sp>
        <p:nvSpPr>
          <p:cNvPr id="111" name="Google Shape;111;p5"/>
          <p:cNvSpPr txBox="1"/>
          <p:nvPr/>
        </p:nvSpPr>
        <p:spPr>
          <a:xfrm>
            <a:off x="797400" y="956775"/>
            <a:ext cx="6043200" cy="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rgbClr val="4C6584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Escopo Técnico</a:t>
            </a:r>
            <a:endParaRPr b="1" i="0" sz="3400" u="none" cap="none" strike="noStrike">
              <a:solidFill>
                <a:srgbClr val="4C6584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  <p:grpSp>
        <p:nvGrpSpPr>
          <p:cNvPr id="112" name="Google Shape;112;p5"/>
          <p:cNvGrpSpPr/>
          <p:nvPr/>
        </p:nvGrpSpPr>
        <p:grpSpPr>
          <a:xfrm>
            <a:off x="715250" y="5748825"/>
            <a:ext cx="5955200" cy="780550"/>
            <a:chOff x="645000" y="5142400"/>
            <a:chExt cx="5955200" cy="780550"/>
          </a:xfrm>
        </p:grpSpPr>
        <p:pic>
          <p:nvPicPr>
            <p:cNvPr id="113" name="Google Shape;113;p5" title="Conectividade Proposta Comercial Double.png"/>
            <p:cNvPicPr preferRelativeResize="0"/>
            <p:nvPr/>
          </p:nvPicPr>
          <p:blipFill rotWithShape="1">
            <a:blip r:embed="rId4">
              <a:alphaModFix/>
            </a:blip>
            <a:srcRect b="0" l="0" r="92097" t="0"/>
            <a:stretch/>
          </p:blipFill>
          <p:spPr>
            <a:xfrm>
              <a:off x="645000" y="5142400"/>
              <a:ext cx="464526" cy="780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5"/>
            <p:cNvSpPr txBox="1"/>
            <p:nvPr/>
          </p:nvSpPr>
          <p:spPr>
            <a:xfrm>
              <a:off x="1168400" y="5225225"/>
              <a:ext cx="5431800" cy="5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pt-BR" sz="2800" u="none" cap="none" strike="noStrike">
                  <a:solidFill>
                    <a:srgbClr val="4C6584"/>
                  </a:solidFill>
                  <a:latin typeface="Asap Condensed ExtraBold"/>
                  <a:ea typeface="Asap Condensed ExtraBold"/>
                  <a:cs typeface="Asap Condensed ExtraBold"/>
                  <a:sym typeface="Asap Condensed ExtraBold"/>
                </a:rPr>
                <a:t>Diferenciais</a:t>
              </a:r>
              <a:endParaRPr b="0" i="0" sz="2800" u="none" cap="none" strike="noStrike">
                <a:solidFill>
                  <a:srgbClr val="4C6584"/>
                </a:solidFill>
                <a:latin typeface="Asap Condensed ExtraBold"/>
                <a:ea typeface="Asap Condensed ExtraBold"/>
                <a:cs typeface="Asap Condensed ExtraBold"/>
                <a:sym typeface="Asap Condensed ExtraBold"/>
              </a:endParaRPr>
            </a:p>
          </p:txBody>
        </p:sp>
      </p:grpSp>
      <p:sp>
        <p:nvSpPr>
          <p:cNvPr id="115" name="Google Shape;115;p5"/>
          <p:cNvSpPr txBox="1"/>
          <p:nvPr/>
        </p:nvSpPr>
        <p:spPr>
          <a:xfrm>
            <a:off x="645000" y="6453175"/>
            <a:ext cx="6195600" cy="3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400"/>
              <a:buFont typeface="Poppins"/>
              <a:buChar char="●"/>
            </a:pPr>
            <a:r>
              <a:rPr b="0" i="0" lang="pt-BR" sz="14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Plataforma 100% gerenciada pela equipe técnica própria da DOUBLE, sem terceiros;</a:t>
            </a:r>
            <a:endParaRPr b="0" i="0" sz="14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400"/>
              <a:buFont typeface="Poppins"/>
              <a:buChar char="●"/>
            </a:pPr>
            <a:r>
              <a:rPr b="0" i="0" lang="pt-BR" sz="14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Suporte técnico especializado 24x7, com atendimento ágil e humanizado;</a:t>
            </a:r>
            <a:endParaRPr b="0" i="0" sz="14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400"/>
              <a:buFont typeface="Poppins"/>
              <a:buChar char="●"/>
            </a:pPr>
            <a:r>
              <a:rPr b="0" i="0" lang="pt-BR" sz="14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Monitoramento proativo, com alertas de segurança, disponibilidade e desempenho;</a:t>
            </a:r>
            <a:endParaRPr b="0" i="0" sz="14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400"/>
              <a:buFont typeface="Poppins"/>
              <a:buChar char="●"/>
            </a:pPr>
            <a:r>
              <a:rPr b="0" i="0" lang="pt-BR" sz="14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Infraestrutura em Data Center nacional, com baixa latência e alta segurança;</a:t>
            </a:r>
            <a:endParaRPr b="0" i="0" sz="14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400"/>
              <a:buFont typeface="Poppins"/>
              <a:buChar char="●"/>
            </a:pPr>
            <a:r>
              <a:rPr b="0" i="0" lang="pt-BR" sz="14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Facilidade de gestão, escalabilidade sob demanda e atualizações constantes;</a:t>
            </a:r>
            <a:endParaRPr b="0" i="0" sz="14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400"/>
              <a:buFont typeface="Poppins"/>
              <a:buChar char="●"/>
            </a:pPr>
            <a:r>
              <a:rPr b="0" i="0" lang="pt-BR" sz="14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Serviço que elimina custos com hardware físico, licenciamento e manutenções locais.</a:t>
            </a:r>
            <a:endParaRPr b="0" i="0" sz="14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797400" y="956775"/>
            <a:ext cx="60432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rgbClr val="4C6584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Premissas</a:t>
            </a:r>
            <a:endParaRPr b="1" i="0" sz="3400" u="none" cap="none" strike="noStrike">
              <a:solidFill>
                <a:srgbClr val="4C6584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251100" y="1682750"/>
            <a:ext cx="7057800" cy="80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5400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Para a correta utilização do FIREWALL VIRTUAL DOUBLE, o cliente deverá observar as seguintes premissas e assumir integralmente as responsabilidades abaixo: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romanUcPeriod"/>
            </a:pPr>
            <a:r>
              <a:rPr b="1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Responsabilidade sobre Uso e Conteúdo:</a:t>
            </a:r>
            <a:endParaRPr b="1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alphaUcPeriod"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O cliente é responsável pela configuração e utilização das regras de firewall, VPNs, filtragens, acessos e segmentações de rede, bem como pelas finalidades para as quais o serviço é utilizado.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alphaUcPeriod"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O uso do firewall deve estar em plena conformidade com a legislação vigente, incluindo LGPD, Marco Civil da Internet, Código Penal, Código Civil e demais normas aplicáveis.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alphaUcPeriod"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A DOUBLE não se responsabiliza pela utilização do serviço para práticas ilícitas, indevidas ou que violem direitos de terceiros.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romanUcPeriod"/>
            </a:pPr>
            <a:r>
              <a:rPr b="1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Proibição de Atividades Ilícitas ou Abusivas:</a:t>
            </a:r>
            <a:endParaRPr b="1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alphaUcPeriod"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É expressamente proibido utilizar o serviço para: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arabicPeriod"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Atividades ilícitas, fraudes, invasões, distribuição de malware, ataques a terceiros ou qualquer ação que comprometa redes alheias;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arabicPeriod"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Encaminhar tráfego malicioso, ataques DDoS, phishing ou spam;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arabicPeriod"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Violação de leis de privacidade, direitos autorais, propriedade intelectual ou qualquer norma vigente.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arabicPeriod"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A constatação de uso indevido poderá acarretar na suspensão ou cancelamento imediato do serviço, sem prejuízo das medidas legais cabíveis.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romanUcPeriod"/>
            </a:pPr>
            <a:r>
              <a:rPr b="1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Licenciamento de Software e Recursos Externos:</a:t>
            </a:r>
            <a:endParaRPr b="1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alphaUcPeriod"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Licenças de softwares externos, integrações e serviços adicionais conectados ao firewall são de responsabilidade do cliente, salvo quando contratados diretamente com a DOUBLE.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romanUcPeriod"/>
            </a:pPr>
            <a:r>
              <a:rPr b="1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Gestão e Configuração:</a:t>
            </a:r>
            <a:endParaRPr b="1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alphaUcPeriod"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A configuração de regras, filtros, VPNs, políticas de acesso, segmentação de rede e demais ajustes operacionais do firewall são de responsabilidade do cliente, salvo quando contratado o serviço de gestão assistida ou gerenciamento completo pela DOUBLE.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romanUcPeriod"/>
            </a:pPr>
            <a:r>
              <a:rPr b="1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Segurança da Informação e Conformidade:</a:t>
            </a:r>
            <a:endParaRPr b="1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alphaUcPeriod"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O cliente deve adotar boas práticas de segurança, como: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arabicPeriod"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Manutenção de senhas seguras nos acessos administrativos;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arabicPeriod"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Monitoramento de tentativas de acessos não autorizados;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arabicPeriod"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Atualização das regras conforme as necessidades de segurança e operação;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arabicPeriod"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Garantir conformidade com a LGPD no uso e na proteção de dados trafegados e armazenados.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romanUcPeriod"/>
            </a:pPr>
            <a:r>
              <a:rPr b="1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Escalabilidade e Limitações:</a:t>
            </a:r>
            <a:endParaRPr b="1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584"/>
              </a:buClr>
              <a:buSzPts val="1200"/>
              <a:buFont typeface="Poppins"/>
              <a:buAutoNum type="alphaUcPeriod"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O uso do serviço deve respeitar os limites contratados de conexões, throughput, sessões VPN, número de redes ou sub-redes e políticas configuráveis. Caso haja necessidade de expansão, o cliente deverá solicitar formalmente à DOUBLE o ajuste de capacidade ou recursos.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/>
        </p:nvSpPr>
        <p:spPr>
          <a:xfrm>
            <a:off x="797400" y="728175"/>
            <a:ext cx="60432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rgbClr val="4C6584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Investimento</a:t>
            </a:r>
            <a:endParaRPr b="1" i="0" sz="3400" u="none" cap="none" strike="noStrike">
              <a:solidFill>
                <a:srgbClr val="4C6584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722263" y="2370500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Double TI + Telecom</a:t>
            </a:r>
            <a:endParaRPr b="1" i="0" sz="16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Nome do Vendedor</a:t>
            </a:r>
            <a:endParaRPr b="0" i="0" sz="16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e-mail@doubletelecom.com.br</a:t>
            </a:r>
            <a:endParaRPr b="0" i="0" sz="16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www.doubletelecom.com.br</a:t>
            </a:r>
            <a:endParaRPr b="0" i="0" sz="16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(41) 3312-6500 </a:t>
            </a:r>
            <a:endParaRPr b="0" i="0" sz="16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722275" y="1715000"/>
            <a:ext cx="30000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pt-BR" sz="23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Data: DD/MM/YYYY</a:t>
            </a:r>
            <a:endParaRPr b="1" i="0" sz="23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3915751" y="2370500"/>
            <a:ext cx="333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Empresa Cliente</a:t>
            </a:r>
            <a:endParaRPr b="1" i="0" sz="16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Nome da Empresa</a:t>
            </a:r>
            <a:endParaRPr b="0" i="0" sz="16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e-mail@empresacliente.com.br</a:t>
            </a:r>
            <a:endParaRPr b="0" i="0" sz="16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www.empresacliente.com.br</a:t>
            </a:r>
            <a:endParaRPr b="0" i="0" sz="16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(41) XXXX-XXXXX</a:t>
            </a:r>
            <a:endParaRPr b="0" i="0" sz="16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721200" y="7899050"/>
            <a:ext cx="6193800" cy="22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14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VIGÊNCIA DE CONTRATO</a:t>
            </a:r>
            <a:endParaRPr b="1" i="0" sz="14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X Meses</a:t>
            </a:r>
            <a:endParaRPr b="1" i="0" sz="14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PRAZO DE ENTREGA</a:t>
            </a:r>
            <a:endParaRPr b="1" i="0" sz="14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4 a 8 Semanas</a:t>
            </a:r>
            <a:endParaRPr b="0" i="0" sz="14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TERMOS E CONDIÇÕES</a:t>
            </a:r>
            <a:endParaRPr b="1" i="0" sz="14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Este orçamento é válido por 15 dias.</a:t>
            </a:r>
            <a:endParaRPr b="0" i="0" sz="14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C65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1" name="Google Shape;131;p7"/>
          <p:cNvGraphicFramePr/>
          <p:nvPr/>
        </p:nvGraphicFramePr>
        <p:xfrm>
          <a:off x="722250" y="401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{264B5AFA-F313-401C-9336-CD715CC1EEA1}</a:tableStyleId>
              </a:tblPr>
              <a:tblGrid>
                <a:gridCol w="1548425"/>
                <a:gridCol w="1548425"/>
                <a:gridCol w="1548425"/>
                <a:gridCol w="1548425"/>
              </a:tblGrid>
              <a:tr h="55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pt-BR" sz="1600" u="none" cap="none" strike="noStrike">
                          <a:solidFill>
                            <a:schemeClr val="lt1"/>
                          </a:solidFill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Serviço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65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pt-BR" sz="1600" u="none" cap="none" strike="noStrike">
                          <a:solidFill>
                            <a:schemeClr val="lt1"/>
                          </a:solidFill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Descrição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65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pt-BR" sz="1600" u="none" cap="none" strike="noStrike">
                          <a:solidFill>
                            <a:schemeClr val="lt1"/>
                          </a:solidFill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Valor Mensal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65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pt-BR" sz="1600" u="none" cap="none" strike="noStrike">
                          <a:solidFill>
                            <a:schemeClr val="lt1"/>
                          </a:solidFill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Valor Contrato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6584"/>
                    </a:solidFill>
                  </a:tcPr>
                </a:tc>
              </a:tr>
              <a:tr h="52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Internet 100Mbps rádio</a:t>
                      </a:r>
                      <a:endParaRPr sz="1400" u="none" cap="none" strike="noStrike"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Link de internet dedicada  via rádio</a:t>
                      </a:r>
                      <a:endParaRPr sz="1400" u="none" cap="none" strike="noStrike"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R$500,00</a:t>
                      </a:r>
                      <a:endParaRPr sz="1400" u="none" cap="none" strike="noStrike"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R$500,00</a:t>
                      </a:r>
                      <a:endParaRPr sz="1400" u="none" cap="none" strike="noStrike"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5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Rede MAN 50Mbps</a:t>
                      </a:r>
                      <a:endParaRPr sz="1400" u="none" cap="none" strike="noStrike"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Link L2L MAN via rádio</a:t>
                      </a:r>
                      <a:endParaRPr sz="1400" u="none" cap="none" strike="noStrike"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R$1000,00</a:t>
                      </a:r>
                      <a:endParaRPr sz="1400" u="none" cap="none" strike="noStrike"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R$500,00</a:t>
                      </a:r>
                      <a:endParaRPr sz="1400" u="none" cap="none" strike="noStrike"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/>
                </a:tc>
              </a:tr>
              <a:tr h="80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Link Double 100Mbps</a:t>
                      </a:r>
                      <a:endParaRPr sz="1400" u="none" cap="none" strike="noStrike"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Link internet redundante Rádio + Fibra Óptica</a:t>
                      </a:r>
                      <a:endParaRPr sz="1400" u="none" cap="none" strike="noStrike"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R$2000,00</a:t>
                      </a:r>
                      <a:endParaRPr sz="1400" u="none" cap="none" strike="noStrike"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400" u="none" cap="none" strike="noStrike">
                          <a:solidFill>
                            <a:schemeClr val="dk1"/>
                          </a:solidFill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R$500,00</a:t>
                      </a:r>
                      <a:endParaRPr sz="1400" u="none" cap="none" strike="noStrike"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0775">
                <a:tc gridSpan="2"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pt-BR" sz="1600" u="none" cap="none" strike="noStrike">
                          <a:solidFill>
                            <a:schemeClr val="lt1"/>
                          </a:solidFill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Total: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6584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600" u="none" cap="none" strike="noStrike">
                          <a:solidFill>
                            <a:schemeClr val="lt1"/>
                          </a:solidFill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R$3500,00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65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1600" u="none" cap="none" strike="noStrike">
                          <a:solidFill>
                            <a:schemeClr val="lt1"/>
                          </a:solidFill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R$1500,00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6584"/>
                    </a:solidFill>
                  </a:tcPr>
                </a:tc>
              </a:tr>
              <a:tr h="550775">
                <a:tc gridSpan="2"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pt-BR" sz="1600" u="none" cap="none" strike="noStrike">
                          <a:solidFill>
                            <a:schemeClr val="lt1"/>
                          </a:solidFill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Taxa de Instalação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6584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pt-BR" sz="1600" u="none" cap="none" strike="noStrike">
                          <a:solidFill>
                            <a:schemeClr val="lt1"/>
                          </a:solidFill>
                          <a:latin typeface="Asap Condensed"/>
                          <a:ea typeface="Asap Condensed"/>
                          <a:cs typeface="Asap Condensed"/>
                          <a:sym typeface="Asap Condensed"/>
                        </a:rPr>
                        <a:t>R$ 1500,00</a:t>
                      </a:r>
                      <a:endParaRPr b="1" sz="1600" u="none" cap="none" strike="noStrike">
                        <a:solidFill>
                          <a:schemeClr val="lt1"/>
                        </a:solidFill>
                        <a:latin typeface="Asap Condensed"/>
                        <a:ea typeface="Asap Condensed"/>
                        <a:cs typeface="Asap Condensed"/>
                        <a:sym typeface="Asap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C6584"/>
                    </a:solidFill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/>
        </p:nvSpPr>
        <p:spPr>
          <a:xfrm>
            <a:off x="797400" y="804375"/>
            <a:ext cx="6043200" cy="7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rgbClr val="4C6584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Informações para contratação</a:t>
            </a:r>
            <a:endParaRPr b="1" i="0" sz="3400" u="none" cap="none" strike="noStrike">
              <a:solidFill>
                <a:srgbClr val="4C6584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97400" y="2593975"/>
            <a:ext cx="6511500" cy="3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Pessoa jurídica: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CNPJ, Inscrição Estadual, contrato social ou última alteração, dados do(s) representante(s) legal(is), informações da testemunha (nome, e-mail e CPF), e endereço de faturamento, se diferente do CNPJ. 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Contato financeiro: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Dados do setor financeiro (nome, telefone, celular, e-mail). 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Contato técnico: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Dados do setor técnico da área de TI (nome, telefone, celular, e-mail).  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Data de vencimento da mensalidade para escolha:</a:t>
            </a: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Dias 5, 10, 25 ou 30 de cada mês.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58400" y="6692900"/>
            <a:ext cx="6550500" cy="28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Após o recebimento das informações acima, será emitido o Termo de Contratação da Locação de Equipamentos (TCS) nos termos desta proposta e de acordo com a Lei Geral de Proteção de Dados Pessoais, Lei n° 13.709/2018.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O prazo de ativação é iniciado a partir do recebimento do Termo de Contratação da Locação de Equipamentos (TCS) assinado, preferencialmente pela plataforma de assinatura digital Click Sign. 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rgbClr val="4C6584"/>
                </a:solidFill>
                <a:latin typeface="Poppins"/>
                <a:ea typeface="Poppins"/>
                <a:cs typeface="Poppins"/>
                <a:sym typeface="Poppins"/>
              </a:rPr>
              <a:t>Aguardamos sua aprovação para continuidade do processo.</a:t>
            </a:r>
            <a:endParaRPr b="0" i="0" sz="1200" u="none" cap="none" strike="noStrike">
              <a:solidFill>
                <a:srgbClr val="4C658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1349375" y="1892575"/>
            <a:ext cx="54522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pt-BR" sz="2600" u="none" cap="none" strike="noStrike">
                <a:solidFill>
                  <a:srgbClr val="4C6584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Documentação</a:t>
            </a:r>
            <a:endParaRPr b="1" i="0" sz="2600" u="none" cap="none" strike="noStrike">
              <a:solidFill>
                <a:srgbClr val="4C6584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1349550" y="5961875"/>
            <a:ext cx="54522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pt-BR" sz="2600" u="none" cap="none" strike="noStrike">
                <a:solidFill>
                  <a:srgbClr val="4C6584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Termo de Contratação</a:t>
            </a:r>
            <a:endParaRPr b="1" i="0" sz="2600" u="none" cap="none" strike="noStrike">
              <a:solidFill>
                <a:srgbClr val="4C6584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  <p:pic>
        <p:nvPicPr>
          <p:cNvPr id="141" name="Google Shape;141;p8" title="Conectividade Proposta Comercial Double.png"/>
          <p:cNvPicPr preferRelativeResize="0"/>
          <p:nvPr/>
        </p:nvPicPr>
        <p:blipFill rotWithShape="1">
          <a:blip r:embed="rId4">
            <a:alphaModFix/>
          </a:blip>
          <a:srcRect b="0" l="0" r="92097" t="0"/>
          <a:stretch/>
        </p:blipFill>
        <p:spPr>
          <a:xfrm>
            <a:off x="797400" y="1848200"/>
            <a:ext cx="464526" cy="78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8" title="Conectividade Proposta Comercial Double.png"/>
          <p:cNvPicPr preferRelativeResize="0"/>
          <p:nvPr/>
        </p:nvPicPr>
        <p:blipFill rotWithShape="1">
          <a:blip r:embed="rId4">
            <a:alphaModFix/>
          </a:blip>
          <a:srcRect b="0" l="0" r="92097" t="0"/>
          <a:stretch/>
        </p:blipFill>
        <p:spPr>
          <a:xfrm>
            <a:off x="797400" y="5917500"/>
            <a:ext cx="464526" cy="78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/>
        </p:nvSpPr>
        <p:spPr>
          <a:xfrm>
            <a:off x="907150" y="1661325"/>
            <a:ext cx="5681400" cy="76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A Double TI+Telecom se compromete a cumprir toda a legislação aplicável sobre segurança da informação, privacidade e proteção de dados, inclusive (sempre e quando aplicáveis) a Constituição Federal, o Código Civil, o Marco Civil da Internet (Lei Federal n. 12.965/2014), seu decreto regulamentador (Decreto 8.771/2016), a Lei Geral de Proteção de Dados (Lei Federal n. 13.709/2018), e demais normas setoriais ou gerais sobre o tema, se comprometendo, ainda, a zelar pela conformidade da </a:t>
            </a:r>
            <a:r>
              <a:rPr b="1" i="0" lang="pt-BR" sz="14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contratante</a:t>
            </a:r>
            <a:r>
              <a:rPr b="0" i="0" lang="pt-BR" sz="14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, na medida de seu alcance durante o cumprimento das atividades propostas, não o colocando em situações de violação a tais regulações. A Double TI + Telecom somente tratará dados pessoais, entendidos como qualquer informação relacionada a pessoa natural identificada ou identificável, caso expressamente instruído e autorizado pela </a:t>
            </a:r>
            <a:r>
              <a:rPr b="1" i="0" lang="pt-BR" sz="14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contratante</a:t>
            </a:r>
            <a:r>
              <a:rPr b="0" i="0" lang="pt-BR" sz="14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, para finalidades estritamente necessárias para o cumprimento das atividades propostas e jamais para outros fins. A Double TI + Telecom não transferirá, compartilhará ou disponibilizará dados pessoais a quaisquer terceiros sem a expressa autorização e instrução da </a:t>
            </a:r>
            <a:r>
              <a:rPr b="1" i="0" lang="pt-BR" sz="14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contratante</a:t>
            </a:r>
            <a:r>
              <a:rPr b="0" i="0" lang="pt-BR" sz="14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. Caso um titular de dados pessoais, autoridade responsável pela proteção de dados pessoais, ou qualquer terceiro requisitar à Double TI + Telecom qualquer informação ou a tomada de providências a respeito do tratamento de dados pessoais relacionado às atividades propostas ou às atividades da </a:t>
            </a:r>
            <a:r>
              <a:rPr b="1" i="0" lang="pt-BR" sz="14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contratante</a:t>
            </a:r>
            <a:r>
              <a:rPr b="0" i="0" lang="pt-BR" sz="14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, a Double TI + Telecom deverá imediatamente comunicar à </a:t>
            </a:r>
            <a:r>
              <a:rPr b="1" i="0" lang="pt-BR" sz="14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contratante</a:t>
            </a:r>
            <a:r>
              <a:rPr b="0" i="0" lang="pt-BR" sz="1400" u="none" cap="none" strike="noStrike">
                <a:solidFill>
                  <a:srgbClr val="4C6584"/>
                </a:solidFill>
                <a:latin typeface="Arial"/>
                <a:ea typeface="Arial"/>
                <a:cs typeface="Arial"/>
                <a:sym typeface="Arial"/>
              </a:rPr>
              <a:t>, e, sob suas instruções, auxiliá-la a cumprir com a requisição, sempre que aplicável. Para os fins desta proposta, são considerados DADOS PESSOAIS qualquer informação relativa a uma pessoa singular identificada ou identificável (“Titular”). É considerada identificável uma pessoa singular que possa ser identificada, direta ou indiretamente, em especial por referência a um identificador, como por exemplo um nome, um número de identificação, dados de localização, identificadores por via eletrônica ou a um ou mais elementos específicos da identidade física, fisiológica, genética, mental, econômica, cultural ou social dessa pessoa singular.</a:t>
            </a:r>
            <a:endParaRPr b="0" i="0" sz="21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758400" y="494800"/>
            <a:ext cx="6043200" cy="1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rgbClr val="4C6584"/>
                </a:solidFill>
                <a:latin typeface="Asap Condensed"/>
                <a:ea typeface="Asap Condensed"/>
                <a:cs typeface="Asap Condensed"/>
                <a:sym typeface="Asap Condensed"/>
              </a:rPr>
              <a:t>Segurança da informação, privacidade e proteção de dados</a:t>
            </a:r>
            <a:endParaRPr b="1" i="0" sz="3400" u="none" cap="none" strike="noStrike">
              <a:solidFill>
                <a:srgbClr val="4C6584"/>
              </a:solidFill>
              <a:latin typeface="Asap Condensed"/>
              <a:ea typeface="Asap Condensed"/>
              <a:cs typeface="Asap Condensed"/>
              <a:sym typeface="Asap Condense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0x01010031C2DA5A83E3FB4EB6B2136EB29E1B99</vt:lpwstr>
  </property>
</Properties>
</file>